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5"/>
  </p:notesMasterIdLst>
  <p:sldIdLst>
    <p:sldId id="283" r:id="rId3"/>
    <p:sldId id="257" r:id="rId4"/>
    <p:sldId id="282" r:id="rId6"/>
    <p:sldId id="284" r:id="rId7"/>
    <p:sldId id="285" r:id="rId8"/>
    <p:sldId id="281" r:id="rId9"/>
    <p:sldId id="279" r:id="rId10"/>
    <p:sldId id="262" r:id="rId11"/>
    <p:sldId id="264" r:id="rId12"/>
    <p:sldId id="278" r:id="rId13"/>
    <p:sldId id="277" r:id="rId14"/>
    <p:sldId id="286" r:id="rId15"/>
    <p:sldId id="280"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AAD8F4D-43EB-41E5-8A38-28AB6DFB1B60}"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0" name="Google Shape;13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panose="020F0502020204030204"/>
              <a:buNone/>
            </a:pPr>
            <a:endParaRPr sz="15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panose="02020603050405020304"/>
              <a:buNone/>
            </a:pPr>
            <a:endParaRPr sz="3200" b="1" i="0" u="none" strike="noStrike" cap="none" dirty="0">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96" name="Google Shape;96;p2"/>
          <p:cNvGraphicFramePr/>
          <p:nvPr/>
        </p:nvGraphicFramePr>
        <p:xfrm>
          <a:off x="1299257" y="2600315"/>
          <a:ext cx="9394989" cy="2167128"/>
        </p:xfrm>
        <a:graphic>
          <a:graphicData uri="http://schemas.openxmlformats.org/drawingml/2006/table">
            <a:tbl>
              <a:tblPr>
                <a:noFill/>
                <a:tableStyleId>{0AAD8F4D-43EB-41E5-8A38-28AB6DFB1B60}</a:tableStyleId>
              </a:tblPr>
              <a:tblGrid>
                <a:gridCol w="2064867"/>
                <a:gridCol w="2443374"/>
                <a:gridCol w="2443374"/>
                <a:gridCol w="2443374"/>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dirty="0">
                          <a:solidFill>
                            <a:srgbClr val="000000"/>
                          </a:solidFill>
                          <a:latin typeface="Arial" panose="020B0604020202020204"/>
                          <a:ea typeface="Calibri" panose="020F0502020204030204"/>
                          <a:cs typeface="Arial" panose="020B0604020202020204"/>
                          <a:sym typeface="Calibri" panose="020F0502020204030204"/>
                        </a:rPr>
                        <a:t>Email ID </a:t>
                      </a:r>
                      <a:endParaRPr sz="1800" b="0" i="0" u="none" strike="noStrike" cap="none" dirty="0">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dirty="0">
                          <a:solidFill>
                            <a:srgbClr val="000000"/>
                          </a:solidFill>
                          <a:latin typeface="Arial" panose="020B0604020202020204"/>
                          <a:ea typeface="Calibri" panose="020F0502020204030204"/>
                          <a:cs typeface="Arial" panose="020B0604020202020204"/>
                          <a:sym typeface="Calibri" panose="020F0502020204030204"/>
                        </a:rPr>
                        <a:t>Mobile number</a:t>
                      </a:r>
                      <a:endParaRPr sz="1800" b="0" i="0" u="none" strike="noStrike" cap="none" dirty="0">
                        <a:solidFill>
                          <a:srgbClr val="000000"/>
                        </a:solidFill>
                        <a:latin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dirty="0">
                          <a:solidFill>
                            <a:srgbClr val="000000"/>
                          </a:solidFill>
                          <a:latin typeface="Arial" panose="020B0604020202020204"/>
                          <a:ea typeface="Calibri" panose="020F0502020204030204"/>
                          <a:cs typeface="Arial" panose="020B0604020202020204"/>
                          <a:sym typeface="Calibri" panose="020F0502020204030204"/>
                        </a:rPr>
                        <a:t>[WhatsApp] </a:t>
                      </a:r>
                      <a:endParaRPr sz="1800" b="0" i="0" u="none" strike="noStrike" cap="none" dirty="0">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r>
              <a:tr h="1193891">
                <a:tc>
                  <a:txBody>
                    <a:bodyPr/>
                    <a:lstStyle/>
                    <a:p>
                      <a:pPr marL="0" marR="0" lvl="0" indent="0" algn="l" rtl="0">
                        <a:spcBef>
                          <a:spcPts val="0"/>
                        </a:spcBef>
                        <a:spcAft>
                          <a:spcPts val="0"/>
                        </a:spcAft>
                        <a:buNone/>
                      </a:pPr>
                      <a:r>
                        <a:rPr lang="en-IN" dirty="0"/>
                        <a:t>B.Tejasri</a:t>
                      </a:r>
                      <a:endParaRPr lang="en-IN"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baletejasri@gmail.com</a:t>
                      </a:r>
                      <a:endParaRPr lang="en-IN"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8555038961</a:t>
                      </a:r>
                      <a:endParaRPr lang="en-IN"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r>
            </a:tbl>
          </a:graphicData>
        </a:graphic>
      </p:graphicFrame>
      <p:sp>
        <p:nvSpPr>
          <p:cNvPr id="4" name="TextBox 3"/>
          <p:cNvSpPr txBox="1"/>
          <p:nvPr/>
        </p:nvSpPr>
        <p:spPr>
          <a:xfrm>
            <a:off x="1206164" y="1460724"/>
            <a:ext cx="10280254" cy="460375"/>
          </a:xfrm>
          <a:prstGeom prst="rect">
            <a:avLst/>
          </a:prstGeom>
          <a:noFill/>
        </p:spPr>
        <p:txBody>
          <a:bodyPr wrap="square" rtlCol="0">
            <a:spAutoFit/>
          </a:bodyPr>
          <a:lstStyle/>
          <a:p>
            <a:r>
              <a:rPr lang="en-US" sz="2400" b="1" dirty="0"/>
              <a:t>Domain of  Project – </a:t>
            </a:r>
            <a:r>
              <a:rPr lang="en-IN" altLang="en-US" sz="2400" b="1" dirty="0"/>
              <a:t>[</a:t>
            </a:r>
            <a:r>
              <a:rPr lang="en-US" altLang="en-US" sz="2400" b="1" dirty="0"/>
              <a:t>Social Welfare</a:t>
            </a:r>
            <a:r>
              <a:rPr lang="en-IN" altLang="en-US" sz="2400" b="1" dirty="0"/>
              <a:t>]</a:t>
            </a:r>
            <a:endParaRPr lang="en-IN" altLang="en-US" sz="2400" b="1" dirty="0"/>
          </a:p>
        </p:txBody>
      </p:sp>
      <p:sp>
        <p:nvSpPr>
          <p:cNvPr id="7" name="TextBox 6"/>
          <p:cNvSpPr txBox="1"/>
          <p:nvPr/>
        </p:nvSpPr>
        <p:spPr>
          <a:xfrm>
            <a:off x="1206162" y="551965"/>
            <a:ext cx="9581177" cy="829945"/>
          </a:xfrm>
          <a:prstGeom prst="rect">
            <a:avLst/>
          </a:prstGeom>
          <a:noFill/>
        </p:spPr>
        <p:txBody>
          <a:bodyPr wrap="square" rtlCol="0">
            <a:spAutoFit/>
          </a:bodyPr>
          <a:lstStyle/>
          <a:p>
            <a:r>
              <a:rPr lang="en-US" sz="2400" b="1" dirty="0"/>
              <a:t>Project Tile – </a:t>
            </a:r>
            <a:r>
              <a:rPr lang="en-IN" altLang="en-US" sz="2400" b="1" dirty="0"/>
              <a:t>[</a:t>
            </a:r>
            <a:r>
              <a:rPr lang="en-US" altLang="en-US" sz="2400" b="1" dirty="0"/>
              <a:t>Predicting NSAP Beneficiary Counts using Machine Learning</a:t>
            </a:r>
            <a:r>
              <a:rPr lang="en-IN" altLang="en-US" sz="2400" b="1" dirty="0"/>
              <a:t>]</a:t>
            </a:r>
            <a:endParaRPr lang="en-IN" altLang="en-US" sz="2400" b="1" dirty="0"/>
          </a:p>
        </p:txBody>
      </p:sp>
      <p:pic>
        <p:nvPicPr>
          <p:cNvPr id="2" name="Picture 1"/>
          <p:cNvPicPr>
            <a:picLocks noChangeAspect="1"/>
          </p:cNvPicPr>
          <p:nvPr/>
        </p:nvPicPr>
        <p:blipFill>
          <a:blip r:embed="rId1"/>
          <a:stretch>
            <a:fillRect/>
          </a:stretch>
        </p:blipFill>
        <p:spPr>
          <a:xfrm>
            <a:off x="4145280" y="3775075"/>
            <a:ext cx="909320" cy="74549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234440"/>
            <a:ext cx="10607040" cy="5477510"/>
          </a:xfrm>
          <a:prstGeom prst="rect">
            <a:avLst/>
          </a:prstGeom>
          <a:noFill/>
        </p:spPr>
        <p:txBody>
          <a:bodyPr wrap="square" rtlCol="0">
            <a:spAutoFit/>
          </a:bodyPr>
          <a:lstStyle/>
          <a:p>
            <a:pPr fontAlgn="base"/>
            <a:r>
              <a:rPr lang="en-US" b="1" dirty="0"/>
              <a:t>Problem Statement :</a:t>
            </a:r>
            <a:r>
              <a:rPr lang="en-US" altLang="en-US" b="1" dirty="0"/>
              <a:t>NSAP Eligibility Prediction using Machine Learning</a:t>
            </a:r>
            <a:endParaRPr lang="en-US" altLang="en-US" b="1" dirty="0"/>
          </a:p>
          <a:p>
            <a:pPr fontAlgn="base"/>
            <a:endParaRPr lang="en-US" b="1" dirty="0"/>
          </a:p>
          <a:p>
            <a:pPr fontAlgn="base"/>
            <a:r>
              <a:rPr lang="en-US" b="1" dirty="0"/>
              <a:t>The Challenge</a:t>
            </a:r>
            <a:r>
              <a:rPr lang="en-US" dirty="0"/>
              <a:t> </a:t>
            </a:r>
            <a:endParaRPr lang="en-US" dirty="0"/>
          </a:p>
          <a:p>
            <a:pPr fontAlgn="base"/>
            <a:r>
              <a:rPr lang="en-US" altLang="en-US" dirty="0"/>
              <a:t> Manual verification of NSAP applicants is slow and error-prone, causing delays in pension scheme allocation.</a:t>
            </a:r>
            <a:endParaRPr lang="en-US" altLang="en-US" dirty="0"/>
          </a:p>
          <a:p>
            <a:pPr fontAlgn="base"/>
            <a:endParaRPr lang="en-US" altLang="en-US" dirty="0"/>
          </a:p>
          <a:p>
            <a:pPr fontAlgn="base"/>
            <a:r>
              <a:rPr lang="en-US" altLang="en-US" dirty="0"/>
              <a:t>Objective: Build an ML-based system to predict the most suitable NSAP scheme for an applicant using demographic and socio-economic data.</a:t>
            </a:r>
            <a:endParaRPr lang="en-US" altLang="en-US" dirty="0"/>
          </a:p>
          <a:p>
            <a:pPr fontAlgn="base"/>
            <a:endParaRPr lang="en-US" altLang="en-US" dirty="0"/>
          </a:p>
          <a:p>
            <a:pPr fontAlgn="base"/>
            <a:r>
              <a:rPr lang="en-US" altLang="en-US" dirty="0"/>
              <a:t>Features</a:t>
            </a:r>
            <a:endParaRPr lang="en-US" altLang="en-US" dirty="0"/>
          </a:p>
          <a:p>
            <a:pPr fontAlgn="base"/>
            <a:r>
              <a:rPr lang="en-US" altLang="en-US" dirty="0"/>
              <a:t>Eligibility prediction for NSAP schemes.</a:t>
            </a:r>
            <a:endParaRPr lang="en-US" altLang="en-US" dirty="0"/>
          </a:p>
          <a:p>
            <a:pPr fontAlgn="base"/>
            <a:endParaRPr lang="en-US" altLang="en-US" dirty="0"/>
          </a:p>
          <a:p>
            <a:pPr fontAlgn="base"/>
            <a:r>
              <a:rPr lang="en-US" altLang="en-US" dirty="0"/>
              <a:t>Automated applicant classification.</a:t>
            </a:r>
            <a:endParaRPr lang="en-US" altLang="en-US" dirty="0"/>
          </a:p>
          <a:p>
            <a:pPr fontAlgn="base"/>
            <a:endParaRPr lang="en-US" altLang="en-US" dirty="0"/>
          </a:p>
          <a:p>
            <a:pPr fontAlgn="base"/>
            <a:r>
              <a:rPr lang="en-US" altLang="en-US" dirty="0"/>
              <a:t>District/state-wise beneficiary analysis.</a:t>
            </a:r>
            <a:endParaRPr lang="en-US" altLang="en-US" dirty="0"/>
          </a:p>
          <a:p>
            <a:pPr fontAlgn="base"/>
            <a:endParaRPr lang="en-US" altLang="en-US" dirty="0"/>
          </a:p>
          <a:p>
            <a:pPr fontAlgn="base"/>
            <a:r>
              <a:rPr lang="en-US" altLang="en-US" dirty="0"/>
              <a:t>Gender and social-category insights (SC/ST/OBC).</a:t>
            </a:r>
            <a:endParaRPr lang="en-US" altLang="en-US" dirty="0"/>
          </a:p>
          <a:p>
            <a:pPr fontAlgn="base"/>
            <a:endParaRPr lang="en-US" altLang="en-US" dirty="0"/>
          </a:p>
          <a:p>
            <a:pPr fontAlgn="base"/>
            <a:r>
              <a:rPr lang="en-US" altLang="en-US" dirty="0"/>
              <a:t>Visualization dashboard with scheme distribution and model performance.</a:t>
            </a:r>
            <a:endParaRPr lang="en-US" altLang="en-US" dirty="0"/>
          </a:p>
          <a:p>
            <a:pPr fontAlgn="base"/>
            <a:endParaRPr lang="en-US" altLang="en-US" dirty="0"/>
          </a:p>
          <a:p>
            <a:pPr fontAlgn="base"/>
            <a:r>
              <a:rPr lang="en-US" altLang="en-US" dirty="0"/>
              <a:t>Domain</a:t>
            </a:r>
            <a:endParaRPr lang="en-US" altLang="en-US" dirty="0"/>
          </a:p>
          <a:p>
            <a:pPr fontAlgn="base"/>
            <a:r>
              <a:rPr lang="en-US" altLang="en-US" dirty="0"/>
              <a:t>Social Welfare &amp; Government Services</a:t>
            </a:r>
            <a:endParaRPr lang="en-US" altLang="en-US" dirty="0"/>
          </a:p>
          <a:p>
            <a:pPr fontAlgn="base"/>
            <a:endParaRPr lang="en-US" altLang="en-US" dirty="0"/>
          </a:p>
          <a:p>
            <a:pPr fontAlgn="base"/>
            <a:r>
              <a:rPr lang="en-US" altLang="en-US" dirty="0"/>
              <a:t>Technology</a:t>
            </a:r>
            <a:endParaRPr lang="en-US" altLang="en-US" dirty="0"/>
          </a:p>
          <a:p>
            <a:pPr fontAlgn="base"/>
            <a:r>
              <a:rPr lang="en-US" altLang="en-US" dirty="0"/>
              <a:t>IBM Cloud Lite, IBM Watson Studio, Python, Pandas, Scikit-learn, IBM Cloud Object Storage</a:t>
            </a:r>
            <a:endParaRPr lang="en-US" altLang="en-US" dirty="0"/>
          </a:p>
          <a:p>
            <a:endParaRPr lang="en-IN" dirty="0"/>
          </a:p>
        </p:txBody>
      </p:sp>
      <p:sp>
        <p:nvSpPr>
          <p:cNvPr id="3" name="TextBox 2"/>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667512" y="1165753"/>
            <a:ext cx="10607040" cy="5262245"/>
          </a:xfrm>
          <a:prstGeom prst="rect">
            <a:avLst/>
          </a:prstGeom>
          <a:noFill/>
        </p:spPr>
        <p:txBody>
          <a:bodyPr wrap="square" rtlCol="0">
            <a:spAutoFit/>
          </a:bodyPr>
          <a:lstStyle/>
          <a:p>
            <a:pPr fontAlgn="base"/>
            <a:endParaRPr lang="en-US" b="1" dirty="0"/>
          </a:p>
          <a:p>
            <a:pPr fontAlgn="base"/>
            <a:r>
              <a:rPr lang="en-US" altLang="en-US" b="1" dirty="0"/>
              <a:t>Python</a:t>
            </a:r>
            <a:endParaRPr lang="en-US" altLang="en-US" b="1" dirty="0"/>
          </a:p>
          <a:p>
            <a:pPr fontAlgn="base"/>
            <a:endParaRPr lang="en-US" altLang="en-US" b="1" dirty="0"/>
          </a:p>
          <a:p>
            <a:pPr fontAlgn="base"/>
            <a:r>
              <a:rPr lang="en-US" altLang="en-US" b="1" dirty="0"/>
              <a:t>IBM watsonx.ai</a:t>
            </a:r>
            <a:endParaRPr lang="en-US" altLang="en-US" b="1" dirty="0"/>
          </a:p>
          <a:p>
            <a:pPr fontAlgn="base"/>
            <a:endParaRPr lang="en-US" altLang="en-US" b="1" dirty="0"/>
          </a:p>
          <a:p>
            <a:pPr fontAlgn="base"/>
            <a:r>
              <a:rPr lang="en-US" altLang="en-US" b="1" dirty="0"/>
              <a:t>Generative AI</a:t>
            </a:r>
            <a:endParaRPr lang="en-US" altLang="en-US" b="1" dirty="0"/>
          </a:p>
          <a:p>
            <a:pPr fontAlgn="base"/>
            <a:endParaRPr lang="en-US" altLang="en-US" b="1" dirty="0"/>
          </a:p>
          <a:p>
            <a:pPr fontAlgn="base"/>
            <a:r>
              <a:rPr lang="en-US" altLang="en-US" b="1" dirty="0"/>
              <a:t>Retrieval-Augmented Generation (RAG)</a:t>
            </a:r>
            <a:endParaRPr lang="en-US" altLang="en-US" b="1" dirty="0"/>
          </a:p>
          <a:p>
            <a:pPr fontAlgn="base"/>
            <a:endParaRPr lang="en-US" altLang="en-US" b="1" dirty="0"/>
          </a:p>
          <a:p>
            <a:pPr fontAlgn="base"/>
            <a:r>
              <a:rPr lang="en-US" altLang="en-US" b="1" dirty="0"/>
              <a:t>Machine Learning</a:t>
            </a:r>
            <a:endParaRPr lang="en-US" altLang="en-US" b="1" dirty="0"/>
          </a:p>
          <a:p>
            <a:pPr fontAlgn="base"/>
            <a:endParaRPr lang="en-US" altLang="en-US" b="1" dirty="0"/>
          </a:p>
          <a:p>
            <a:pPr fontAlgn="base"/>
            <a:r>
              <a:rPr lang="en-US" altLang="en-US" b="1" dirty="0"/>
              <a:t>Natural Language Processing (NLP)</a:t>
            </a:r>
            <a:endParaRPr lang="en-US" altLang="en-US" b="1" dirty="0"/>
          </a:p>
          <a:p>
            <a:pPr fontAlgn="base"/>
            <a:endParaRPr lang="en-US" altLang="en-US" b="1" dirty="0"/>
          </a:p>
          <a:p>
            <a:pPr fontAlgn="base"/>
            <a:r>
              <a:rPr lang="en-US" altLang="en-US" b="1" dirty="0"/>
              <a:t>Computer Vision</a:t>
            </a:r>
            <a:endParaRPr lang="en-US" altLang="en-US" b="1" dirty="0"/>
          </a:p>
          <a:p>
            <a:pPr fontAlgn="base"/>
            <a:endParaRPr lang="en-US" altLang="en-US" b="1" dirty="0"/>
          </a:p>
          <a:p>
            <a:pPr fontAlgn="base"/>
            <a:r>
              <a:rPr lang="en-US" altLang="en-US" b="1" dirty="0"/>
              <a:t>Streamlit</a:t>
            </a:r>
            <a:endParaRPr lang="en-US" altLang="en-US" b="1" dirty="0"/>
          </a:p>
          <a:p>
            <a:pPr fontAlgn="base"/>
            <a:endParaRPr lang="en-US" altLang="en-US" b="1" dirty="0"/>
          </a:p>
          <a:p>
            <a:pPr fontAlgn="base"/>
            <a:r>
              <a:rPr lang="en-US" altLang="en-US" b="1" dirty="0"/>
              <a:t>Pandas &amp; NumPy</a:t>
            </a:r>
            <a:endParaRPr lang="en-US" altLang="en-US" b="1" dirty="0"/>
          </a:p>
          <a:p>
            <a:pPr fontAlgn="base"/>
            <a:endParaRPr lang="en-US" altLang="en-US" b="1" dirty="0"/>
          </a:p>
          <a:p>
            <a:pPr fontAlgn="base"/>
            <a:r>
              <a:rPr lang="en-US" altLang="en-US" b="1" dirty="0"/>
              <a:t>IBM Cloud</a:t>
            </a:r>
            <a:endParaRPr lang="en-US" altLang="en-US" b="1"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p:cNvSpPr txBox="1"/>
          <p:nvPr/>
        </p:nvSpPr>
        <p:spPr>
          <a:xfrm>
            <a:off x="457962" y="704088"/>
            <a:ext cx="7214616" cy="461665"/>
          </a:xfrm>
          <a:prstGeom prst="rect">
            <a:avLst/>
          </a:prstGeom>
          <a:noFill/>
        </p:spPr>
        <p:txBody>
          <a:bodyPr wrap="square" rtlCol="0">
            <a:spAutoFit/>
          </a:bodyPr>
          <a:lstStyle/>
          <a:p>
            <a:r>
              <a:rPr lang="en-US" sz="2400" b="1" dirty="0"/>
              <a:t>Technology Used </a:t>
            </a:r>
            <a:endParaRPr lang="en-IN" sz="24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319530"/>
            <a:ext cx="10607040" cy="1599565"/>
          </a:xfrm>
          <a:prstGeom prst="rect">
            <a:avLst/>
          </a:prstGeom>
          <a:noFill/>
        </p:spPr>
        <p:txBody>
          <a:bodyPr wrap="square" rtlCol="0">
            <a:spAutoFit/>
          </a:bodyPr>
          <a:lstStyle/>
          <a:p>
            <a:pPr fontAlgn="base"/>
            <a:endParaRPr lang="en-US" b="1" dirty="0"/>
          </a:p>
          <a:p>
            <a:pPr fontAlgn="base"/>
            <a:r>
              <a:rPr lang="en-US" altLang="en-US" dirty="0"/>
              <a:t>Develop an AI-powered Nutrition Agent that uses a multi-agent architecture to provide personalized diet recommendations, nutritional analysis, and preventive health guidance. The system retrieves reliable nutrition data using RAG, generates customized meal plans based on user preferences and health conditions, analyzes food logs from text, image, or voice inputs, and offers health-focused dietary suggestions. An interactive dashboard tracks daily and weekly nutrient intake, deficiencies, and progress toward fitness and wellness goals.</a:t>
            </a:r>
            <a:endParaRPr lang="en-US" altLang="en-US" dirty="0"/>
          </a:p>
          <a:p>
            <a:endParaRPr lang="en-IN" dirty="0"/>
          </a:p>
        </p:txBody>
      </p:sp>
      <p:sp>
        <p:nvSpPr>
          <p:cNvPr id="3" name="TextBox 2"/>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5"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2400" b="1" dirty="0" err="1">
                <a:sym typeface="Times New Roman" panose="02020603050405020304"/>
              </a:rPr>
              <a:t>Langflow</a:t>
            </a:r>
            <a:r>
              <a:rPr lang="en-US" sz="3500" b="1" i="0" u="none" strike="noStrike" cap="none" dirty="0">
                <a:solidFill>
                  <a:srgbClr val="051D3A"/>
                </a:solidFill>
                <a:latin typeface="Times New Roman" panose="02020603050405020304"/>
                <a:ea typeface="Times New Roman" panose="02020603050405020304"/>
                <a:cs typeface="Times New Roman" panose="02020603050405020304"/>
                <a:sym typeface="Times New Roman" panose="02020603050405020304"/>
              </a:rPr>
              <a:t> </a:t>
            </a:r>
            <a:r>
              <a:rPr lang="en-US" sz="2400" b="1" dirty="0">
                <a:sym typeface="Times New Roman" panose="02020603050405020304"/>
              </a:rPr>
              <a:t>component Used -</a:t>
            </a:r>
            <a:endParaRPr sz="2400" b="1" dirty="0">
              <a:sym typeface="Times New Roman" panose="02020603050405020304"/>
            </a:endParaRPr>
          </a:p>
        </p:txBody>
      </p:sp>
      <p:sp>
        <p:nvSpPr>
          <p:cNvPr id="148" name="Google Shape;148;p5"/>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p5"/>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p5"/>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p5"/>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2" name="Google Shape;152;p5"/>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3" name="Google Shape;153;p5"/>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474822" y="863187"/>
            <a:ext cx="8823960" cy="6339205"/>
          </a:xfrm>
          <a:prstGeom prst="rect">
            <a:avLst/>
          </a:prstGeom>
          <a:noFill/>
        </p:spPr>
        <p:txBody>
          <a:bodyPr wrap="square" rtlCol="0">
            <a:spAutoFit/>
          </a:bodyPr>
          <a:lstStyle/>
          <a:p>
            <a:r>
              <a:rPr lang="en-US" altLang="en-US" dirty="0"/>
              <a:t>Chat Input</a:t>
            </a:r>
            <a:endParaRPr lang="en-US" altLang="en-US" dirty="0"/>
          </a:p>
          <a:p>
            <a:endParaRPr lang="en-US" altLang="en-US" dirty="0"/>
          </a:p>
          <a:p>
            <a:r>
              <a:rPr lang="en-US" altLang="en-US" dirty="0"/>
              <a:t>Prompt Template</a:t>
            </a:r>
            <a:endParaRPr lang="en-US" altLang="en-US" dirty="0"/>
          </a:p>
          <a:p>
            <a:endParaRPr lang="en-US" altLang="en-US" dirty="0"/>
          </a:p>
          <a:p>
            <a:r>
              <a:rPr lang="en-US" altLang="en-US" dirty="0"/>
              <a:t>LLM (IBM watsonx.ai Model)</a:t>
            </a:r>
            <a:endParaRPr lang="en-US" altLang="en-US" dirty="0"/>
          </a:p>
          <a:p>
            <a:endParaRPr lang="en-US" altLang="en-US" dirty="0"/>
          </a:p>
          <a:p>
            <a:r>
              <a:rPr lang="en-US" altLang="en-US" dirty="0"/>
              <a:t>RAG / Retriever Component</a:t>
            </a:r>
            <a:endParaRPr lang="en-US" altLang="en-US" dirty="0"/>
          </a:p>
          <a:p>
            <a:endParaRPr lang="en-US" altLang="en-US" dirty="0"/>
          </a:p>
          <a:p>
            <a:r>
              <a:rPr lang="en-US" altLang="en-US" dirty="0"/>
              <a:t>Vector Store</a:t>
            </a:r>
            <a:endParaRPr lang="en-US" altLang="en-US" dirty="0"/>
          </a:p>
          <a:p>
            <a:endParaRPr lang="en-US" altLang="en-US" dirty="0"/>
          </a:p>
          <a:p>
            <a:r>
              <a:rPr lang="en-US" altLang="en-US" dirty="0"/>
              <a:t>Text Splitter</a:t>
            </a:r>
            <a:endParaRPr lang="en-US" altLang="en-US" dirty="0"/>
          </a:p>
          <a:p>
            <a:endParaRPr lang="en-US" altLang="en-US" dirty="0"/>
          </a:p>
          <a:p>
            <a:r>
              <a:rPr lang="en-US" altLang="en-US" dirty="0"/>
              <a:t>Document Loader</a:t>
            </a:r>
            <a:endParaRPr lang="en-US" altLang="en-US" dirty="0"/>
          </a:p>
          <a:p>
            <a:endParaRPr lang="en-US" altLang="en-US" dirty="0"/>
          </a:p>
          <a:p>
            <a:r>
              <a:rPr lang="en-US" altLang="en-US" dirty="0"/>
              <a:t>Agent Component</a:t>
            </a:r>
            <a:endParaRPr lang="en-US" altLang="en-US" dirty="0"/>
          </a:p>
          <a:p>
            <a:endParaRPr lang="en-US" altLang="en-US" dirty="0"/>
          </a:p>
          <a:p>
            <a:r>
              <a:rPr lang="en-US" altLang="en-US" dirty="0"/>
              <a:t>Output Parser</a:t>
            </a:r>
            <a:endParaRPr lang="en-US" altLang="en-US" dirty="0"/>
          </a:p>
          <a:p>
            <a:endParaRPr lang="en-US" altLang="en-US" dirty="0"/>
          </a:p>
          <a:p>
            <a:r>
              <a:rPr lang="en-US" altLang="en-US" dirty="0"/>
              <a:t>Chat Output</a:t>
            </a:r>
            <a:endParaRPr lang="en-US" altLang="en-US" dirty="0"/>
          </a:p>
          <a:p>
            <a:endParaRPr lang="en-US" altLang="en-US" dirty="0"/>
          </a:p>
          <a:p>
            <a:r>
              <a:rPr lang="en-US" altLang="en-US" dirty="0"/>
              <a:t>API Request Component</a:t>
            </a:r>
            <a:endParaRPr lang="en-US" altLang="en-US" dirty="0"/>
          </a:p>
          <a:p>
            <a:endParaRPr lang="en-US" altLang="en-US" dirty="0"/>
          </a:p>
          <a:p>
            <a:r>
              <a:rPr lang="en-US" altLang="en-US" dirty="0"/>
              <a:t>Memory Component</a:t>
            </a:r>
            <a:endParaRPr lang="en-US" altLang="en-US" dirty="0"/>
          </a:p>
          <a:p>
            <a:endParaRPr lang="en-US" dirty="0"/>
          </a:p>
          <a:p>
            <a:endParaRPr lang="en-US" dirty="0"/>
          </a:p>
          <a:p>
            <a:endParaRPr lang="en-US" dirty="0"/>
          </a:p>
          <a:p>
            <a:endParaRPr lang="en-US" dirty="0"/>
          </a:p>
          <a:p>
            <a:endParaRPr lang="en-US" dirty="0"/>
          </a:p>
          <a:p>
            <a:r>
              <a:rPr lang="en-US" dirty="0"/>
              <a:t> </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2400" b="1" dirty="0" err="1">
                <a:sym typeface="Times New Roman" panose="02020603050405020304"/>
              </a:rPr>
              <a:t>Langflow</a:t>
            </a:r>
            <a:r>
              <a:rPr lang="en-US" sz="3500" b="1" i="0" u="none" strike="noStrike" cap="none" dirty="0">
                <a:solidFill>
                  <a:srgbClr val="051D3A"/>
                </a:solidFill>
                <a:latin typeface="Times New Roman" panose="02020603050405020304"/>
                <a:ea typeface="Times New Roman" panose="02020603050405020304"/>
                <a:cs typeface="Times New Roman" panose="02020603050405020304"/>
                <a:sym typeface="Times New Roman" panose="02020603050405020304"/>
              </a:rPr>
              <a:t> </a:t>
            </a:r>
            <a:r>
              <a:rPr lang="en-US" sz="2400" b="1" dirty="0">
                <a:sym typeface="Times New Roman" panose="02020603050405020304"/>
              </a:rPr>
              <a:t>workflow -</a:t>
            </a:r>
            <a:endParaRPr sz="2400" b="1" dirty="0">
              <a:sym typeface="Times New Roman" panose="02020603050405020304"/>
            </a:endParaRPr>
          </a:p>
        </p:txBody>
      </p:sp>
      <p:pic>
        <p:nvPicPr>
          <p:cNvPr id="4" name="Picture 3" descr="Screenshot 2026-05-28 152903"/>
          <p:cNvPicPr>
            <a:picLocks noChangeAspect="1"/>
          </p:cNvPicPr>
          <p:nvPr/>
        </p:nvPicPr>
        <p:blipFill>
          <a:blip r:embed="rId1"/>
          <a:stretch>
            <a:fillRect/>
          </a:stretch>
        </p:blipFill>
        <p:spPr>
          <a:xfrm>
            <a:off x="537845" y="1105535"/>
            <a:ext cx="10916285" cy="55149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panose="020F0502020204030204"/>
                <a:ea typeface="Calibri" panose="020F0502020204030204"/>
                <a:cs typeface="Calibri" panose="020F0502020204030204"/>
                <a:sym typeface="Calibri" panose="020F0502020204030204"/>
              </a:rPr>
              <a:t>Architecture blueprint</a:t>
            </a:r>
            <a:endParaRPr lang="en-US" sz="2400" dirty="0"/>
          </a:p>
        </p:txBody>
      </p:sp>
      <p:pic>
        <p:nvPicPr>
          <p:cNvPr id="4" name="Picture 3" descr="Screenshot 2026-05-28 153602"/>
          <p:cNvPicPr>
            <a:picLocks noChangeAspect="1"/>
          </p:cNvPicPr>
          <p:nvPr/>
        </p:nvPicPr>
        <p:blipFill>
          <a:blip r:embed="rId1"/>
          <a:stretch>
            <a:fillRect/>
          </a:stretch>
        </p:blipFill>
        <p:spPr>
          <a:xfrm>
            <a:off x="290830" y="1019175"/>
            <a:ext cx="5292090" cy="5648960"/>
          </a:xfrm>
          <a:prstGeom prst="rect">
            <a:avLst/>
          </a:prstGeom>
        </p:spPr>
      </p:pic>
      <p:pic>
        <p:nvPicPr>
          <p:cNvPr id="6" name="Picture 5" descr="Screenshot 2026-05-28 155554"/>
          <p:cNvPicPr>
            <a:picLocks noChangeAspect="1"/>
          </p:cNvPicPr>
          <p:nvPr/>
        </p:nvPicPr>
        <p:blipFill>
          <a:blip r:embed="rId2"/>
          <a:stretch>
            <a:fillRect/>
          </a:stretch>
        </p:blipFill>
        <p:spPr>
          <a:xfrm>
            <a:off x="5742940" y="1102360"/>
            <a:ext cx="6336665" cy="55651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1"/>
          <a:srcRect/>
          <a:stretch>
            <a:fillRect/>
          </a:stretch>
        </p:blipFill>
        <p:spPr>
          <a:xfrm>
            <a:off x="8371985" y="1167493"/>
            <a:ext cx="3015343" cy="4523014"/>
          </a:xfrm>
          <a:prstGeom prst="rect">
            <a:avLst/>
          </a:prstGeom>
          <a:noFill/>
          <a:ln>
            <a:noFill/>
          </a:ln>
        </p:spPr>
      </p:pic>
      <p:sp>
        <p:nvSpPr>
          <p:cNvPr id="2" name="TextBox 1"/>
          <p:cNvSpPr txBox="1"/>
          <p:nvPr/>
        </p:nvSpPr>
        <p:spPr>
          <a:xfrm>
            <a:off x="474853"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p:cNvSpPr txBox="1"/>
          <p:nvPr/>
        </p:nvSpPr>
        <p:spPr>
          <a:xfrm>
            <a:off x="621792" y="1167493"/>
            <a:ext cx="7406640" cy="5477510"/>
          </a:xfrm>
          <a:prstGeom prst="rect">
            <a:avLst/>
          </a:prstGeom>
          <a:noFill/>
        </p:spPr>
        <p:txBody>
          <a:bodyPr wrap="square" rtlCol="0">
            <a:spAutoFit/>
          </a:bodyPr>
          <a:lstStyle/>
          <a:p>
            <a:r>
              <a:rPr lang="en-US" altLang="en-US" dirty="0"/>
              <a:t>Agentic AI enables the Nutrition Agent to autonomously perform specialized tasks through multiple intelligent agents working together. Each agent has a specific responsibility:</a:t>
            </a:r>
            <a:endParaRPr lang="en-US" altLang="en-US" dirty="0"/>
          </a:p>
          <a:p>
            <a:endParaRPr lang="en-US" altLang="en-US" dirty="0"/>
          </a:p>
          <a:p>
            <a:r>
              <a:rPr lang="en-US" altLang="en-US" dirty="0"/>
              <a:t>Nutrition Knowledge Agent – Retrieves accurate nutritional information from trusted sources using RAG.</a:t>
            </a:r>
            <a:endParaRPr lang="en-US" altLang="en-US" dirty="0"/>
          </a:p>
          <a:p>
            <a:endParaRPr lang="en-US" altLang="en-US" dirty="0"/>
          </a:p>
          <a:p>
            <a:r>
              <a:rPr lang="en-US" altLang="en-US" dirty="0"/>
              <a:t>Diet Recommendation Agent – Creates personalized meal plans based on age, health conditions, allergies, preferences, and fitness goals.</a:t>
            </a:r>
            <a:endParaRPr lang="en-US" altLang="en-US" dirty="0"/>
          </a:p>
          <a:p>
            <a:endParaRPr lang="en-US" altLang="en-US" dirty="0"/>
          </a:p>
          <a:p>
            <a:r>
              <a:rPr lang="en-US" altLang="en-US" dirty="0"/>
              <a:t>Health Advisory Agent – Provides preventive health recommendations and disease-specific dietary guidance.</a:t>
            </a:r>
            <a:endParaRPr lang="en-US" altLang="en-US" dirty="0"/>
          </a:p>
          <a:p>
            <a:endParaRPr lang="en-US" altLang="en-US" dirty="0"/>
          </a:p>
          <a:p>
            <a:r>
              <a:rPr lang="en-US" altLang="en-US" dirty="0"/>
              <a:t>Food Log &amp; Feedback Agent – Analyzes meals entered through text, images, or voice and gives instant nutritional feedback.</a:t>
            </a:r>
            <a:endParaRPr lang="en-US" altLang="en-US" dirty="0"/>
          </a:p>
          <a:p>
            <a:endParaRPr lang="en-US" altLang="en-US" dirty="0"/>
          </a:p>
          <a:p>
            <a:r>
              <a:rPr lang="en-US" altLang="en-US" dirty="0"/>
              <a:t>By coordinating these agents, the system delivers personalized, accurate, and real-time nutrition guidance, improving diet management and supporting healthier lifestyle choices.</a:t>
            </a:r>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p:cNvSpPr txBox="1"/>
          <p:nvPr/>
        </p:nvSpPr>
        <p:spPr>
          <a:xfrm>
            <a:off x="777240" y="1207008"/>
            <a:ext cx="10515600" cy="6062345"/>
          </a:xfrm>
          <a:prstGeom prst="rect">
            <a:avLst/>
          </a:prstGeom>
          <a:noFill/>
        </p:spPr>
        <p:txBody>
          <a:bodyPr wrap="square" rtlCol="0">
            <a:spAutoFit/>
          </a:bodyPr>
          <a:lstStyle/>
          <a:p>
            <a:pPr marL="285750" indent="-285750">
              <a:buFont typeface="Arial" panose="020B0604020202020204" pitchFamily="34" charset="0"/>
              <a:buChar char="•"/>
            </a:pPr>
            <a:r>
              <a:rPr lang="en-US" altLang="en-US" sz="1800" dirty="0"/>
              <a:t>Python</a:t>
            </a:r>
            <a:endParaRPr lang="en-US" altLang="en-US" sz="1800" dirty="0"/>
          </a:p>
          <a:p>
            <a:pPr marL="285750" indent="-285750">
              <a:buFont typeface="Arial" panose="020B0604020202020204" pitchFamily="34" charset="0"/>
              <a:buChar char="•"/>
            </a:pPr>
            <a:endParaRPr lang="en-US" altLang="en-US" sz="1800" dirty="0"/>
          </a:p>
          <a:p>
            <a:pPr marL="285750" indent="-285750">
              <a:buFont typeface="Arial" panose="020B0604020202020204" pitchFamily="34" charset="0"/>
              <a:buChar char="•"/>
            </a:pPr>
            <a:r>
              <a:rPr lang="en-US" altLang="en-US" sz="1800" dirty="0"/>
              <a:t>IBM watsonx.ai</a:t>
            </a:r>
            <a:endParaRPr lang="en-US" altLang="en-US" sz="1800" dirty="0"/>
          </a:p>
          <a:p>
            <a:pPr marL="285750" indent="-285750">
              <a:buFont typeface="Arial" panose="020B0604020202020204" pitchFamily="34" charset="0"/>
              <a:buChar char="•"/>
            </a:pPr>
            <a:endParaRPr lang="en-US" altLang="en-US" sz="1800" dirty="0"/>
          </a:p>
          <a:p>
            <a:pPr marL="285750" indent="-285750">
              <a:buFont typeface="Arial" panose="020B0604020202020204" pitchFamily="34" charset="0"/>
              <a:buChar char="•"/>
            </a:pPr>
            <a:r>
              <a:rPr lang="en-US" altLang="en-US" sz="1800" dirty="0"/>
              <a:t>Agentic AI</a:t>
            </a:r>
            <a:endParaRPr lang="en-US" altLang="en-US" sz="1800" dirty="0"/>
          </a:p>
          <a:p>
            <a:pPr marL="285750" indent="-285750">
              <a:buFont typeface="Arial" panose="020B0604020202020204" pitchFamily="34" charset="0"/>
              <a:buChar char="•"/>
            </a:pPr>
            <a:endParaRPr lang="en-US" altLang="en-US" sz="1800" dirty="0"/>
          </a:p>
          <a:p>
            <a:pPr marL="285750" indent="-285750">
              <a:buFont typeface="Arial" panose="020B0604020202020204" pitchFamily="34" charset="0"/>
              <a:buChar char="•"/>
            </a:pPr>
            <a:r>
              <a:rPr lang="en-US" altLang="en-US" sz="1800" dirty="0"/>
              <a:t>Generative AI</a:t>
            </a:r>
            <a:endParaRPr lang="en-US" altLang="en-US" sz="1800" dirty="0"/>
          </a:p>
          <a:p>
            <a:pPr marL="285750" indent="-285750">
              <a:buFont typeface="Arial" panose="020B0604020202020204" pitchFamily="34" charset="0"/>
              <a:buChar char="•"/>
            </a:pPr>
            <a:endParaRPr lang="en-US" altLang="en-US" sz="1800" dirty="0"/>
          </a:p>
          <a:p>
            <a:pPr marL="285750" indent="-285750">
              <a:buFont typeface="Arial" panose="020B0604020202020204" pitchFamily="34" charset="0"/>
              <a:buChar char="•"/>
            </a:pPr>
            <a:r>
              <a:rPr lang="en-US" altLang="en-US" sz="1800" dirty="0"/>
              <a:t>Retrieval-Augmented Generation (RAG)</a:t>
            </a:r>
            <a:endParaRPr lang="en-US" altLang="en-US" sz="1800" dirty="0"/>
          </a:p>
          <a:p>
            <a:pPr marL="285750" indent="-285750">
              <a:buFont typeface="Arial" panose="020B0604020202020204" pitchFamily="34" charset="0"/>
              <a:buChar char="•"/>
            </a:pPr>
            <a:endParaRPr lang="en-US" altLang="en-US" sz="1800" dirty="0"/>
          </a:p>
          <a:p>
            <a:pPr marL="285750" indent="-285750">
              <a:buFont typeface="Arial" panose="020B0604020202020204" pitchFamily="34" charset="0"/>
              <a:buChar char="•"/>
            </a:pPr>
            <a:r>
              <a:rPr lang="en-US" altLang="en-US" sz="1800" dirty="0"/>
              <a:t>Machine Learning</a:t>
            </a:r>
            <a:endParaRPr lang="en-US" altLang="en-US" sz="1800" dirty="0"/>
          </a:p>
          <a:p>
            <a:pPr marL="285750" indent="-285750">
              <a:buFont typeface="Arial" panose="020B0604020202020204" pitchFamily="34" charset="0"/>
              <a:buChar char="•"/>
            </a:pPr>
            <a:endParaRPr lang="en-US" altLang="en-US" sz="1800" dirty="0"/>
          </a:p>
          <a:p>
            <a:pPr marL="285750" indent="-285750">
              <a:buFont typeface="Arial" panose="020B0604020202020204" pitchFamily="34" charset="0"/>
              <a:buChar char="•"/>
            </a:pPr>
            <a:r>
              <a:rPr lang="en-US" altLang="en-US" sz="1800" dirty="0"/>
              <a:t>Natural Language Processing (NLP)</a:t>
            </a:r>
            <a:endParaRPr lang="en-US" altLang="en-US" sz="1800" dirty="0"/>
          </a:p>
          <a:p>
            <a:pPr marL="285750" indent="-285750">
              <a:buFont typeface="Arial" panose="020B0604020202020204" pitchFamily="34" charset="0"/>
              <a:buChar char="•"/>
            </a:pPr>
            <a:endParaRPr lang="en-US" altLang="en-US" sz="1800" dirty="0"/>
          </a:p>
          <a:p>
            <a:pPr marL="285750" indent="-285750">
              <a:buFont typeface="Arial" panose="020B0604020202020204" pitchFamily="34" charset="0"/>
              <a:buChar char="•"/>
            </a:pPr>
            <a:r>
              <a:rPr lang="en-US" altLang="en-US" sz="1800" dirty="0"/>
              <a:t>Computer Vision</a:t>
            </a:r>
            <a:endParaRPr lang="en-US" altLang="en-US" sz="1800" dirty="0"/>
          </a:p>
          <a:p>
            <a:pPr marL="285750" indent="-285750">
              <a:buFont typeface="Arial" panose="020B0604020202020204" pitchFamily="34" charset="0"/>
              <a:buChar char="•"/>
            </a:pPr>
            <a:endParaRPr lang="en-US" altLang="en-US" sz="1800" dirty="0"/>
          </a:p>
          <a:p>
            <a:pPr marL="285750" indent="-285750">
              <a:buFont typeface="Arial" panose="020B0604020202020204" pitchFamily="34" charset="0"/>
              <a:buChar char="•"/>
            </a:pPr>
            <a:r>
              <a:rPr lang="en-US" altLang="en-US" sz="1800" dirty="0"/>
              <a:t>Langflow</a:t>
            </a:r>
            <a:endParaRPr lang="en-US" altLang="en-US" sz="1800" dirty="0"/>
          </a:p>
          <a:p>
            <a:pPr marL="285750" indent="-285750">
              <a:buFont typeface="Arial" panose="020B0604020202020204" pitchFamily="34" charset="0"/>
              <a:buChar char="•"/>
            </a:pPr>
            <a:endParaRPr lang="en-US" altLang="en-US" sz="1800" dirty="0"/>
          </a:p>
          <a:p>
            <a:pPr marL="285750" indent="-285750">
              <a:buFont typeface="Arial" panose="020B0604020202020204" pitchFamily="34" charset="0"/>
              <a:buChar char="•"/>
            </a:pPr>
            <a:r>
              <a:rPr lang="en-US" altLang="en-US" sz="1800" dirty="0"/>
              <a:t>Streamlit</a:t>
            </a:r>
            <a:endParaRPr lang="en-US" altLang="en-US" sz="1800" dirty="0"/>
          </a:p>
          <a:p>
            <a:pPr marL="285750" indent="-285750">
              <a:buFont typeface="Arial" panose="020B0604020202020204" pitchFamily="34" charset="0"/>
              <a:buChar char="•"/>
            </a:pPr>
            <a:endParaRPr lang="en-US" sz="1800" dirty="0"/>
          </a:p>
          <a:p>
            <a:endParaRPr lang="en-US" dirty="0"/>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dirty="0">
                <a:sym typeface="Times New Roman" panose="02020603050405020304"/>
              </a:rPr>
              <a:t>Git Hub Link</a:t>
            </a:r>
            <a:endParaRPr sz="2400" b="1" dirty="0">
              <a:sym typeface="Times New Roman" panose="02020603050405020304"/>
            </a:endParaRPr>
          </a:p>
        </p:txBody>
      </p:sp>
      <p:sp>
        <p:nvSpPr>
          <p:cNvPr id="279" name="Google Shape;279;p18"/>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https://github.com/Tejasribale/NSAP-Eligibility-Prediction</a:t>
            </a:r>
            <a:endPar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83820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p:cNvSpPr txBox="1"/>
          <p:nvPr/>
        </p:nvSpPr>
        <p:spPr>
          <a:xfrm>
            <a:off x="777240" y="1207008"/>
            <a:ext cx="11301984" cy="3599815"/>
          </a:xfrm>
          <a:prstGeom prst="rect">
            <a:avLst/>
          </a:prstGeom>
          <a:noFill/>
        </p:spPr>
        <p:txBody>
          <a:bodyPr wrap="square" rtlCol="0">
            <a:spAutoFit/>
          </a:bodyPr>
          <a:lstStyle/>
          <a:p>
            <a:r>
              <a:rPr lang="en-US" altLang="en-US" sz="1800" dirty="0"/>
              <a:t>The proposed Nutrition Agent combines Agentic AI, Generative AI, and RAG to deliver highly personalized and real-time nutrition guidance. Unlike traditional diet applications, it uses a multi-agent architecture where specialized agents collaborate to retrieve nutritional knowledge, generate customized meal plans, analyze food intake, and provide preventive health recommendations. The system supports text, image, and voice-based food logging, offers disease-specific dietary guidance, and visualizes nutrient intake through an interactive dashboard, making nutrition management more intelligent, accurate, and user-centric.</a:t>
            </a:r>
            <a:endParaRPr lang="en-US" altLang="en-US" sz="1800" dirty="0"/>
          </a:p>
          <a:p>
            <a:endParaRPr lang="en-US" altLang="en-US" sz="1800" dirty="0"/>
          </a:p>
          <a:p>
            <a:endParaRPr lang="en-US" altLang="en-US" sz="1800"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dirty="0">
                <a:sym typeface="Times New Roman" panose="02020603050405020304"/>
              </a:rPr>
              <a:t>Future Scope </a:t>
            </a:r>
            <a:endParaRPr sz="2400" b="1" dirty="0">
              <a:sym typeface="Times New Roman" panose="02020603050405020304"/>
            </a:endParaRPr>
          </a:p>
        </p:txBody>
      </p:sp>
      <p:sp>
        <p:nvSpPr>
          <p:cNvPr id="279" name="Google Shape;279;p18"/>
          <p:cNvSpPr/>
          <p:nvPr/>
        </p:nvSpPr>
        <p:spPr>
          <a:xfrm>
            <a:off x="947420" y="1450975"/>
            <a:ext cx="9214485" cy="4538980"/>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Integration with wearable devices and fitness trackers for real-time health monitoring.</a:t>
            </a:r>
            <a:endPar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AI-based calorie estimation from food images with higher accuracy.</a:t>
            </a:r>
            <a:endPar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Personalized nutrition recommendations using medical records and health reports.</a:t>
            </a:r>
            <a:endPar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Support for multiple regional languages to improve accessibility.</a:t>
            </a:r>
            <a:endPar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IN"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R</a:t>
            </a: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eal-time diet coaching through voice assistants and chatbots.</a:t>
            </a:r>
            <a:endPar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4182</Words>
  <Application>WPS Presentation</Application>
  <PresentationFormat>Widescreen</PresentationFormat>
  <Paragraphs>200</Paragraphs>
  <Slides>13</Slides>
  <Notes>13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13</vt:i4>
      </vt:variant>
    </vt:vector>
  </HeadingPairs>
  <TitlesOfParts>
    <vt:vector size="22" baseType="lpstr">
      <vt:lpstr>Arial</vt:lpstr>
      <vt:lpstr>SimSun</vt:lpstr>
      <vt:lpstr>Wingdings</vt:lpstr>
      <vt:lpstr>Arial</vt:lpstr>
      <vt:lpstr>Calibri</vt:lpstr>
      <vt:lpstr>Times New Roman</vt:lpstr>
      <vt:lpstr>Microsoft YaHei</vt:lpstr>
      <vt:lpstr>Arial Unicode MS</vt:lpstr>
      <vt:lpstr>Office Theme</vt:lpstr>
      <vt:lpstr>IBM University Engagement Project Submission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tejasri bale</cp:lastModifiedBy>
  <cp:revision>22</cp:revision>
  <dcterms:created xsi:type="dcterms:W3CDTF">2025-07-08T05:06:00Z</dcterms:created>
  <dcterms:modified xsi:type="dcterms:W3CDTF">2026-06-05T18:03:43Z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4AEF962B142746F0AE692FA04E439667_13</vt:lpwstr>
  </property>
</Properties>
</file>